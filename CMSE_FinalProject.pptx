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Urbanist Medium"/>
      <p:regular r:id="rId10"/>
      <p:bold r:id="rId11"/>
      <p:italic r:id="rId12"/>
      <p:boldItalic r:id="rId13"/>
    </p:embeddedFont>
    <p:embeddedFont>
      <p:font typeface="Urbanist SemiBold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21" Type="http://schemas.openxmlformats.org/officeDocument/2006/relationships/font" Target="fonts/Urbanist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UrbanistMedium-bold.fntdata"/><Relationship Id="rId10" Type="http://schemas.openxmlformats.org/officeDocument/2006/relationships/font" Target="fonts/UrbanistMedium-regular.fntdata"/><Relationship Id="rId13" Type="http://schemas.openxmlformats.org/officeDocument/2006/relationships/font" Target="fonts/UrbanistMedium-boldItalic.fntdata"/><Relationship Id="rId12" Type="http://schemas.openxmlformats.org/officeDocument/2006/relationships/font" Target="fonts/UrbanistMedium-italic.fntdata"/><Relationship Id="rId15" Type="http://schemas.openxmlformats.org/officeDocument/2006/relationships/font" Target="fonts/UrbanistSemiBold-bold.fntdata"/><Relationship Id="rId14" Type="http://schemas.openxmlformats.org/officeDocument/2006/relationships/font" Target="fonts/UrbanistSemiBold-regular.fntdata"/><Relationship Id="rId17" Type="http://schemas.openxmlformats.org/officeDocument/2006/relationships/font" Target="fonts/UrbanistSemiBold-boldItalic.fntdata"/><Relationship Id="rId16" Type="http://schemas.openxmlformats.org/officeDocument/2006/relationships/font" Target="fonts/UrbanistSemiBold-italic.fntdata"/><Relationship Id="rId19" Type="http://schemas.openxmlformats.org/officeDocument/2006/relationships/font" Target="fonts/Urbanist-bold.fntdata"/><Relationship Id="rId18" Type="http://schemas.openxmlformats.org/officeDocument/2006/relationships/font" Target="fonts/Urbanis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692fb910d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692fb910d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692fb910de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692fb910de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692fb910de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692fb910de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53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84" name="Google Shape;484;p53"/>
          <p:cNvGrpSpPr/>
          <p:nvPr/>
        </p:nvGrpSpPr>
        <p:grpSpPr>
          <a:xfrm>
            <a:off x="228591" y="3329100"/>
            <a:ext cx="233094" cy="233094"/>
            <a:chOff x="259788" y="1923155"/>
            <a:chExt cx="409800" cy="409800"/>
          </a:xfrm>
        </p:grpSpPr>
        <p:sp>
          <p:nvSpPr>
            <p:cNvPr id="485" name="Google Shape;485;p5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6" name="Google Shape;486;p5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7" name="Google Shape;487;p5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" name="Google Shape;488;p5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89" name="Google Shape;489;p53"/>
          <p:cNvSpPr txBox="1"/>
          <p:nvPr>
            <p:ph type="title"/>
          </p:nvPr>
        </p:nvSpPr>
        <p:spPr>
          <a:xfrm>
            <a:off x="228600" y="953200"/>
            <a:ext cx="8521200" cy="17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Influence of Tiered Starting Positioning: </a:t>
            </a:r>
            <a:r>
              <a:rPr lang="en"/>
              <a:t>Formula 1 British Grand Prix (Silverstone)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0" name="Google Shape;490;p5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Betty He</a:t>
            </a:r>
            <a:endParaRPr/>
          </a:p>
        </p:txBody>
      </p:sp>
      <p:sp>
        <p:nvSpPr>
          <p:cNvPr id="491" name="Google Shape;491;p53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CMSE 201</a:t>
            </a:r>
            <a:endParaRPr/>
          </a:p>
        </p:txBody>
      </p:sp>
      <p:sp>
        <p:nvSpPr>
          <p:cNvPr id="492" name="Google Shape;492;p5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4"/>
          <p:cNvSpPr/>
          <p:nvPr/>
        </p:nvSpPr>
        <p:spPr>
          <a:xfrm>
            <a:off x="317850" y="228600"/>
            <a:ext cx="3612900" cy="2062800"/>
          </a:xfrm>
          <a:prstGeom prst="roundRect">
            <a:avLst>
              <a:gd fmla="val 118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54"/>
          <p:cNvSpPr/>
          <p:nvPr/>
        </p:nvSpPr>
        <p:spPr>
          <a:xfrm>
            <a:off x="317850" y="2389850"/>
            <a:ext cx="3612900" cy="2062800"/>
          </a:xfrm>
          <a:prstGeom prst="roundRect">
            <a:avLst>
              <a:gd fmla="val 1160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54"/>
          <p:cNvSpPr txBox="1"/>
          <p:nvPr/>
        </p:nvSpPr>
        <p:spPr>
          <a:xfrm>
            <a:off x="630050" y="754675"/>
            <a:ext cx="311280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AutoNum type="arabicPeriod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Import, clean and merge data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AutoNum type="arabicPeriod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Calculations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AutoNum type="arabicPeriod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Ideas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AutoNum type="arabicPeriod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54"/>
          <p:cNvSpPr txBox="1"/>
          <p:nvPr/>
        </p:nvSpPr>
        <p:spPr>
          <a:xfrm>
            <a:off x="380000" y="2491350"/>
            <a:ext cx="36129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trends are reliable indicators.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Crashes, mechanical failures, and weather unpredictability are not modeled.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-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assumes team stability per race (no mid-season driver switches unless tracked).</a:t>
            </a:r>
            <a:b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54"/>
          <p:cNvSpPr txBox="1"/>
          <p:nvPr/>
        </p:nvSpPr>
        <p:spPr>
          <a:xfrm>
            <a:off x="380000" y="314100"/>
            <a:ext cx="36129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02" name="Google Shape;502;p54" title="Screenshot 2025-06-17 at 11.43.42 PM.png"/>
          <p:cNvPicPr preferRelativeResize="0"/>
          <p:nvPr/>
        </p:nvPicPr>
        <p:blipFill rotWithShape="1">
          <a:blip r:embed="rId3">
            <a:alphaModFix/>
          </a:blip>
          <a:srcRect b="0" l="0" r="16380" t="0"/>
          <a:stretch/>
        </p:blipFill>
        <p:spPr>
          <a:xfrm>
            <a:off x="4808825" y="151113"/>
            <a:ext cx="4183649" cy="322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4" title="Screenshot 2025-06-17 at 11.44.47 PM.png"/>
          <p:cNvPicPr preferRelativeResize="0"/>
          <p:nvPr/>
        </p:nvPicPr>
        <p:blipFill rotWithShape="1">
          <a:blip r:embed="rId4">
            <a:alphaModFix/>
          </a:blip>
          <a:srcRect b="0" l="0" r="0" t="80522"/>
          <a:stretch/>
        </p:blipFill>
        <p:spPr>
          <a:xfrm>
            <a:off x="4811250" y="3512688"/>
            <a:ext cx="4183649" cy="8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54" title="Screenshot 2025-06-18 at 12.17.51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0962" y="4607400"/>
            <a:ext cx="4164227" cy="384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5" name="Google Shape;505;p54"/>
          <p:cNvCxnSpPr/>
          <p:nvPr/>
        </p:nvCxnSpPr>
        <p:spPr>
          <a:xfrm>
            <a:off x="3450175" y="994825"/>
            <a:ext cx="1407600" cy="1100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54"/>
          <p:cNvCxnSpPr/>
          <p:nvPr/>
        </p:nvCxnSpPr>
        <p:spPr>
          <a:xfrm>
            <a:off x="7507800" y="3083975"/>
            <a:ext cx="0" cy="662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54"/>
          <p:cNvCxnSpPr/>
          <p:nvPr/>
        </p:nvCxnSpPr>
        <p:spPr>
          <a:xfrm>
            <a:off x="7507800" y="4152425"/>
            <a:ext cx="0" cy="531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8" name="Google Shape;508;p54"/>
          <p:cNvSpPr txBox="1"/>
          <p:nvPr/>
        </p:nvSpPr>
        <p:spPr>
          <a:xfrm>
            <a:off x="6131450" y="4329633"/>
            <a:ext cx="1492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Urbanist"/>
                <a:ea typeface="Urbanist"/>
                <a:cs typeface="Urbanist"/>
                <a:sym typeface="Urbanist"/>
              </a:rPr>
              <a:t>Final Data Format</a:t>
            </a:r>
            <a:endParaRPr b="1" sz="1200">
              <a:solidFill>
                <a:schemeClr val="accent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9" name="Google Shape;509;p54"/>
          <p:cNvSpPr txBox="1"/>
          <p:nvPr/>
        </p:nvSpPr>
        <p:spPr>
          <a:xfrm>
            <a:off x="7122550" y="3242583"/>
            <a:ext cx="603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chemeClr val="accent5"/>
                </a:highlight>
                <a:latin typeface="Urbanist"/>
                <a:ea typeface="Urbanist"/>
                <a:cs typeface="Urbanist"/>
                <a:sym typeface="Urbanist"/>
              </a:rPr>
              <a:t>  1 .</a:t>
            </a:r>
            <a:endParaRPr b="1" sz="1200">
              <a:solidFill>
                <a:schemeClr val="dk1"/>
              </a:solidFill>
              <a:highlight>
                <a:schemeClr val="accent5"/>
              </a:highlight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0" name="Google Shape;510;p54"/>
          <p:cNvSpPr txBox="1"/>
          <p:nvPr/>
        </p:nvSpPr>
        <p:spPr>
          <a:xfrm>
            <a:off x="5856800" y="4322858"/>
            <a:ext cx="603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chemeClr val="accent5"/>
                </a:highlight>
                <a:latin typeface="Urbanist"/>
                <a:ea typeface="Urbanist"/>
                <a:cs typeface="Urbanist"/>
                <a:sym typeface="Urbanist"/>
              </a:rPr>
              <a:t>  2 .</a:t>
            </a:r>
            <a:endParaRPr b="1" sz="1200">
              <a:solidFill>
                <a:schemeClr val="dk1"/>
              </a:solidFill>
              <a:highlight>
                <a:schemeClr val="accent5"/>
              </a:highlight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5"/>
          <p:cNvSpPr txBox="1"/>
          <p:nvPr/>
        </p:nvSpPr>
        <p:spPr>
          <a:xfrm>
            <a:off x="228600" y="231213"/>
            <a:ext cx="58521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Questions: </a:t>
            </a:r>
            <a:br>
              <a:rPr b="1" lang="en" sz="15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5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a driver’s starting position impact race results?</a:t>
            </a:r>
            <a:b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questions: 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team improved their position the most? 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team accumulated points most steadily?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-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 the driver who set the fastest lap one of the </a:t>
            </a:r>
            <a:b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drivers (team) on the podium?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 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 Start, Avg Finish, Fastest Laps, and Rolling Points</a:t>
            </a:r>
            <a:endParaRPr sz="1200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Visualizations 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-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Average Start and Finish Positions </a:t>
            </a:r>
            <a:b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(Per Team)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-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Points Progression Across Races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-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Scatter plot: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Start position vs. Finish position, </a:t>
            </a:r>
            <a:b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in position.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6" name="Google Shape;516;p55" title="Screenshot 2025-06-18 at 12.20.3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710" y="1450525"/>
            <a:ext cx="4237764" cy="3002201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55"/>
          <p:cNvSpPr txBox="1"/>
          <p:nvPr/>
        </p:nvSpPr>
        <p:spPr>
          <a:xfrm>
            <a:off x="4272375" y="4387375"/>
            <a:ext cx="30633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points progression plot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8" name="Google Shape;518;p55" title="Screenshot 2025-06-18 at 12.35.09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2238" y="1450538"/>
            <a:ext cx="733925" cy="21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55"/>
          <p:cNvSpPr txBox="1"/>
          <p:nvPr/>
        </p:nvSpPr>
        <p:spPr>
          <a:xfrm>
            <a:off x="3965458" y="1116833"/>
            <a:ext cx="24672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 - Position relationship</a:t>
            </a:r>
            <a:endParaRPr b="1"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p55"/>
          <p:cNvSpPr txBox="1"/>
          <p:nvPr/>
        </p:nvSpPr>
        <p:spPr>
          <a:xfrm>
            <a:off x="4757867" y="4387383"/>
            <a:ext cx="603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chemeClr val="accent5"/>
                </a:highlight>
                <a:latin typeface="Urbanist"/>
                <a:ea typeface="Urbanist"/>
                <a:cs typeface="Urbanist"/>
                <a:sym typeface="Urbanist"/>
              </a:rPr>
              <a:t>  3 .</a:t>
            </a:r>
            <a:endParaRPr b="1" sz="1200">
              <a:solidFill>
                <a:schemeClr val="dk1"/>
              </a:solidFill>
              <a:highlight>
                <a:schemeClr val="accent5"/>
              </a:highlight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